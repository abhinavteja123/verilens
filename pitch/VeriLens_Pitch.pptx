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02920"/>
            <a:ext cx="384048" cy="27432"/>
          </a:xfrm>
          <a:prstGeom prst="rect">
            <a:avLst/>
          </a:prstGeom>
          <a:solidFill>
            <a:srgbClr val="C99A0E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502920"/>
            <a:ext cx="27432" cy="384048"/>
          </a:xfrm>
          <a:prstGeom prst="rect">
            <a:avLst/>
          </a:prstGeom>
          <a:solidFill>
            <a:srgbClr val="C99A0E"/>
          </a:solidFill>
          <a:ln/>
        </p:spPr>
      </p:sp>
      <p:sp>
        <p:nvSpPr>
          <p:cNvPr id="4" name="Shape 2"/>
          <p:cNvSpPr/>
          <p:nvPr/>
        </p:nvSpPr>
        <p:spPr>
          <a:xfrm>
            <a:off x="11301984" y="502920"/>
            <a:ext cx="384048" cy="27432"/>
          </a:xfrm>
          <a:prstGeom prst="rect">
            <a:avLst/>
          </a:prstGeom>
          <a:solidFill>
            <a:srgbClr val="C99A0E"/>
          </a:solidFill>
          <a:ln/>
        </p:spPr>
      </p:sp>
      <p:sp>
        <p:nvSpPr>
          <p:cNvPr id="5" name="Shape 3"/>
          <p:cNvSpPr/>
          <p:nvPr/>
        </p:nvSpPr>
        <p:spPr>
          <a:xfrm>
            <a:off x="11658600" y="502920"/>
            <a:ext cx="27432" cy="384048"/>
          </a:xfrm>
          <a:prstGeom prst="rect">
            <a:avLst/>
          </a:prstGeom>
          <a:solidFill>
            <a:srgbClr val="C99A0E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6327648"/>
            <a:ext cx="384048" cy="27432"/>
          </a:xfrm>
          <a:prstGeom prst="rect">
            <a:avLst/>
          </a:prstGeom>
          <a:solidFill>
            <a:srgbClr val="C99A0E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5971032"/>
            <a:ext cx="27432" cy="384048"/>
          </a:xfrm>
          <a:prstGeom prst="rect">
            <a:avLst/>
          </a:prstGeom>
          <a:solidFill>
            <a:srgbClr val="C99A0E"/>
          </a:solidFill>
          <a:ln/>
        </p:spPr>
      </p:sp>
      <p:sp>
        <p:nvSpPr>
          <p:cNvPr id="8" name="Shape 6"/>
          <p:cNvSpPr/>
          <p:nvPr/>
        </p:nvSpPr>
        <p:spPr>
          <a:xfrm>
            <a:off x="11301984" y="6327648"/>
            <a:ext cx="384048" cy="27432"/>
          </a:xfrm>
          <a:prstGeom prst="rect">
            <a:avLst/>
          </a:prstGeom>
          <a:solidFill>
            <a:srgbClr val="C99A0E"/>
          </a:solidFill>
          <a:ln/>
        </p:spPr>
      </p:sp>
      <p:sp>
        <p:nvSpPr>
          <p:cNvPr id="9" name="Shape 7"/>
          <p:cNvSpPr/>
          <p:nvPr/>
        </p:nvSpPr>
        <p:spPr>
          <a:xfrm>
            <a:off x="11658600" y="5971032"/>
            <a:ext cx="27432" cy="384048"/>
          </a:xfrm>
          <a:prstGeom prst="rect">
            <a:avLst/>
          </a:prstGeom>
          <a:solidFill>
            <a:srgbClr val="C99A0E"/>
          </a:solidFill>
          <a:ln/>
        </p:spPr>
      </p:sp>
      <p:sp>
        <p:nvSpPr>
          <p:cNvPr id="10" name="Shape 8"/>
          <p:cNvSpPr/>
          <p:nvPr/>
        </p:nvSpPr>
        <p:spPr>
          <a:xfrm>
            <a:off x="5682996" y="1143000"/>
            <a:ext cx="822960" cy="822960"/>
          </a:xfrm>
          <a:prstGeom prst="ellipse">
            <a:avLst/>
          </a:prstGeom>
          <a:solidFill>
            <a:srgbClr val="FFC627"/>
          </a:solidFill>
          <a:ln/>
        </p:spPr>
      </p:sp>
      <p:pic>
        <p:nvPicPr>
          <p:cNvPr id="11" name="Image 0" descr="/Users/mahadev/Downloads/ProofSnap-main/pitch/icons_yb/shield_bl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64047" y="1324051"/>
            <a:ext cx="460858" cy="46085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0" y="2212848"/>
            <a:ext cx="12188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spc="3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VERILENS</a:t>
            </a:r>
            <a:endParaRPr lang="en-US" sz="5600" dirty="0"/>
          </a:p>
        </p:txBody>
      </p:sp>
      <p:sp>
        <p:nvSpPr>
          <p:cNvPr id="13" name="Text 10"/>
          <p:cNvSpPr txBox="1"/>
          <p:nvPr/>
        </p:nvSpPr>
        <p:spPr>
          <a:xfrm>
            <a:off x="0" y="3273552"/>
            <a:ext cx="12188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C6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Deepfake / AI-Generated Image Detector for KYC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2162556" y="395020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forensic evidence system for identity checks — per-lane reasoning,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honest “I don’t know,” and a tamper-proof audit trail.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631436" y="5029200"/>
            <a:ext cx="2926080" cy="11887"/>
          </a:xfrm>
          <a:prstGeom prst="rect">
            <a:avLst/>
          </a:prstGeom>
          <a:solidFill>
            <a:srgbClr val="2E2E2E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0" y="521208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Track: Deepfake / AI-Generated Image Detector for KYC  ·  Cybersecurity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0" y="621792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Gen-AI Hackathon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6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86384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photo used to prove you were real.</a:t>
            </a:r>
            <a:endParaRPr lang="en-US" sz="3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anymore.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377440"/>
            <a:ext cx="3179064" cy="2103120"/>
          </a:xfrm>
          <a:prstGeom prst="roundRect">
            <a:avLst>
              <a:gd name="adj" fmla="val 3913"/>
            </a:avLst>
          </a:prstGeom>
          <a:solidFill>
            <a:srgbClr val="1B1B1B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2523744"/>
            <a:ext cx="2667000" cy="1156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C6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11%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3597250"/>
            <a:ext cx="2667000" cy="799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 fraud today is driven by deepfakes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047744" y="2377440"/>
            <a:ext cx="3179064" cy="2103120"/>
          </a:xfrm>
          <a:prstGeom prst="roundRect">
            <a:avLst>
              <a:gd name="adj" fmla="val 3913"/>
            </a:avLst>
          </a:prstGeom>
          <a:solidFill>
            <a:srgbClr val="1B1B1B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303776" y="2523744"/>
            <a:ext cx="2667000" cy="1156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C6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2,665%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303776" y="3597250"/>
            <a:ext cx="2667000" cy="799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fake-camera attacks than just last year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546848" y="2377440"/>
            <a:ext cx="3179064" cy="2103120"/>
          </a:xfrm>
          <a:prstGeom prst="roundRect">
            <a:avLst>
              <a:gd name="adj" fmla="val 3913"/>
            </a:avLst>
          </a:prstGeom>
          <a:solidFill>
            <a:srgbClr val="1B1B1B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02880" y="2523744"/>
            <a:ext cx="2667000" cy="1156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C6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$20/mo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7802880" y="3597250"/>
            <a:ext cx="2667000" cy="799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buys anyone a ready-made face-swap tool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80060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can now fake a face on camera, cheaply and convincingly. A KYC check that only asks “does this photo look real?” is asking the wrong question — VeriLens is built to answer the right one: can this applicant be trusted?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1183112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8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6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86384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check. Five simple steps.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10177272" cy="841248"/>
          </a:xfrm>
          <a:prstGeom prst="roundRect">
            <a:avLst>
              <a:gd name="adj" fmla="val 8696"/>
            </a:avLst>
          </a:prstGeom>
          <a:solidFill>
            <a:srgbClr val="242424"/>
          </a:solidFill>
          <a:ln w="12700">
            <a:solidFill>
              <a:srgbClr val="C99A0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2039112"/>
            <a:ext cx="512064" cy="512064"/>
          </a:xfrm>
          <a:prstGeom prst="ellipse">
            <a:avLst/>
          </a:prstGeom>
          <a:solidFill>
            <a:srgbClr val="FFC627"/>
          </a:solidFill>
          <a:ln/>
        </p:spPr>
      </p:sp>
      <p:pic>
        <p:nvPicPr>
          <p:cNvPr id="6" name="Image 0" descr="/Users/mahadev/Downloads/ProofSnap-main/pitch/icons_yb/layercapture_bl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446" y="2154326"/>
            <a:ext cx="281635" cy="2816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984248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Capture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840480" y="1965960"/>
            <a:ext cx="66568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3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a photo of your ID, then a live selfie.</a:t>
            </a:r>
            <a:endParaRPr lang="en-US" sz="1130" dirty="0"/>
          </a:p>
        </p:txBody>
      </p:sp>
      <p:sp>
        <p:nvSpPr>
          <p:cNvPr id="9" name="Shape 6"/>
          <p:cNvSpPr/>
          <p:nvPr/>
        </p:nvSpPr>
        <p:spPr>
          <a:xfrm>
            <a:off x="694944" y="2848356"/>
            <a:ext cx="10030968" cy="841248"/>
          </a:xfrm>
          <a:prstGeom prst="roundRect">
            <a:avLst>
              <a:gd name="adj" fmla="val 8696"/>
            </a:avLst>
          </a:prstGeom>
          <a:solidFill>
            <a:srgbClr val="1B1B1B"/>
          </a:solidFill>
          <a:ln w="12700">
            <a:solidFill>
              <a:srgbClr val="C99A0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9536" y="3012948"/>
            <a:ext cx="512064" cy="512064"/>
          </a:xfrm>
          <a:prstGeom prst="ellipse">
            <a:avLst/>
          </a:prstGeom>
          <a:solidFill>
            <a:srgbClr val="FFC627"/>
          </a:solidFill>
          <a:ln/>
        </p:spPr>
      </p:sp>
      <p:pic>
        <p:nvPicPr>
          <p:cNvPr id="11" name="Image 1" descr="/Users/mahadev/Downloads/ProofSnap-main/pitch/icons_yb/layergate_bl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750" y="3128162"/>
            <a:ext cx="281635" cy="28163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517904" y="2958084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Quality Check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3986784" y="2939796"/>
            <a:ext cx="65105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3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Blurry or broken photos are stopped right away — before any test runs.</a:t>
            </a:r>
            <a:endParaRPr lang="en-US" sz="1130" dirty="0"/>
          </a:p>
        </p:txBody>
      </p:sp>
      <p:sp>
        <p:nvSpPr>
          <p:cNvPr id="14" name="Shape 10"/>
          <p:cNvSpPr/>
          <p:nvPr/>
        </p:nvSpPr>
        <p:spPr>
          <a:xfrm>
            <a:off x="841248" y="3822192"/>
            <a:ext cx="9884664" cy="841248"/>
          </a:xfrm>
          <a:prstGeom prst="roundRect">
            <a:avLst>
              <a:gd name="adj" fmla="val 8696"/>
            </a:avLst>
          </a:prstGeom>
          <a:solidFill>
            <a:srgbClr val="242424"/>
          </a:solidFill>
          <a:ln w="15875">
            <a:solidFill>
              <a:srgbClr val="C99A0E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005840" y="3986784"/>
            <a:ext cx="512064" cy="512064"/>
          </a:xfrm>
          <a:prstGeom prst="ellipse">
            <a:avLst/>
          </a:prstGeom>
          <a:solidFill>
            <a:srgbClr val="FFC627"/>
          </a:solidFill>
          <a:ln/>
        </p:spPr>
      </p:sp>
      <p:pic>
        <p:nvPicPr>
          <p:cNvPr id="16" name="Image 2" descr="/Users/mahadev/Downloads/ProofSnap-main/pitch/icons_yb/layerlanes_bl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1054" y="4101998"/>
            <a:ext cx="281635" cy="28163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664208" y="393192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Six Checks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4133088" y="3913632"/>
            <a:ext cx="6364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3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different tests look for signs of fakery, all at the same time.</a:t>
            </a:r>
            <a:endParaRPr lang="en-US" sz="1130" dirty="0"/>
          </a:p>
        </p:txBody>
      </p:sp>
      <p:sp>
        <p:nvSpPr>
          <p:cNvPr id="19" name="Shape 14"/>
          <p:cNvSpPr/>
          <p:nvPr/>
        </p:nvSpPr>
        <p:spPr>
          <a:xfrm>
            <a:off x="987552" y="4796028"/>
            <a:ext cx="9738360" cy="841248"/>
          </a:xfrm>
          <a:prstGeom prst="roundRect">
            <a:avLst>
              <a:gd name="adj" fmla="val 8696"/>
            </a:avLst>
          </a:prstGeom>
          <a:solidFill>
            <a:srgbClr val="1B1B1B"/>
          </a:solidFill>
          <a:ln w="12700">
            <a:solidFill>
              <a:srgbClr val="C99A0E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1152144" y="4960620"/>
            <a:ext cx="512064" cy="512064"/>
          </a:xfrm>
          <a:prstGeom prst="ellipse">
            <a:avLst/>
          </a:prstGeom>
          <a:solidFill>
            <a:srgbClr val="FFC627"/>
          </a:solidFill>
          <a:ln/>
        </p:spPr>
      </p:sp>
      <p:pic>
        <p:nvPicPr>
          <p:cNvPr id="21" name="Image 3" descr="/Users/mahadev/Downloads/ProofSnap-main/pitch/icons_yb/layerjudge_bl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7358" y="5075834"/>
            <a:ext cx="281635" cy="281635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810512" y="4905756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Judge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4279392" y="4887468"/>
            <a:ext cx="6217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3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tests agree, we decide. If they disagree, a person reviews it instead of guessing.</a:t>
            </a:r>
            <a:endParaRPr lang="en-US" sz="1130" dirty="0"/>
          </a:p>
        </p:txBody>
      </p:sp>
      <p:sp>
        <p:nvSpPr>
          <p:cNvPr id="24" name="Shape 18"/>
          <p:cNvSpPr/>
          <p:nvPr/>
        </p:nvSpPr>
        <p:spPr>
          <a:xfrm>
            <a:off x="1133856" y="5769864"/>
            <a:ext cx="9592056" cy="841248"/>
          </a:xfrm>
          <a:prstGeom prst="roundRect">
            <a:avLst>
              <a:gd name="adj" fmla="val 8696"/>
            </a:avLst>
          </a:prstGeom>
          <a:solidFill>
            <a:srgbClr val="242424"/>
          </a:solidFill>
          <a:ln w="12700">
            <a:solidFill>
              <a:srgbClr val="C99A0E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1298448" y="5934456"/>
            <a:ext cx="512064" cy="512064"/>
          </a:xfrm>
          <a:prstGeom prst="ellipse">
            <a:avLst/>
          </a:prstGeom>
          <a:solidFill>
            <a:srgbClr val="FFC627"/>
          </a:solidFill>
          <a:ln/>
        </p:spPr>
      </p:sp>
      <p:pic>
        <p:nvPicPr>
          <p:cNvPr id="26" name="Image 4" descr="/Users/mahadev/Downloads/ProofSnap-main/pitch/icons_yb/layerchain_bl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3662" y="6049670"/>
            <a:ext cx="281635" cy="281635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956816" y="5879592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Verdict + Record</a:t>
            </a:r>
            <a:endParaRPr lang="en-US" sz="1400" dirty="0"/>
          </a:p>
        </p:txBody>
      </p:sp>
      <p:sp>
        <p:nvSpPr>
          <p:cNvPr id="28" name="Text 21"/>
          <p:cNvSpPr txBox="1"/>
          <p:nvPr/>
        </p:nvSpPr>
        <p:spPr>
          <a:xfrm>
            <a:off x="4425696" y="5861304"/>
            <a:ext cx="60716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3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is signed and saved on the blockchain — nobody can quietly change it later.</a:t>
            </a:r>
            <a:endParaRPr lang="en-US" sz="1130" dirty="0"/>
          </a:p>
        </p:txBody>
      </p:sp>
      <p:sp>
        <p:nvSpPr>
          <p:cNvPr id="29" name="Text 22"/>
          <p:cNvSpPr txBox="1"/>
          <p:nvPr/>
        </p:nvSpPr>
        <p:spPr>
          <a:xfrm>
            <a:off x="11183112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8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6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SIX CHECKS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86384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checks. Each looks for a different kind of fake.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1591056" cy="2606040"/>
          </a:xfrm>
          <a:prstGeom prst="roundRect">
            <a:avLst>
              <a:gd name="adj" fmla="val 5172"/>
            </a:avLst>
          </a:prstGeom>
          <a:solidFill>
            <a:srgbClr val="1B1B1B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0" y="2075688"/>
            <a:ext cx="493776" cy="493776"/>
          </a:xfrm>
          <a:prstGeom prst="ellipse">
            <a:avLst/>
          </a:prstGeom>
          <a:solidFill>
            <a:srgbClr val="FFC627"/>
          </a:solidFill>
          <a:ln/>
        </p:spPr>
      </p:sp>
      <p:pic>
        <p:nvPicPr>
          <p:cNvPr id="6" name="Image 0" descr="/Users/mahadev/Downloads/ProofSnap-main/pitch/icons_yb/layers_bl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0848" y="2189256"/>
            <a:ext cx="266639" cy="26663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58368" y="269748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C6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LANE A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2935224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Synthesis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676656" y="3447288"/>
            <a:ext cx="13350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Looks for AI-edited or pasted parts of the photo.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244852" y="1874520"/>
            <a:ext cx="1591056" cy="2606040"/>
          </a:xfrm>
          <a:prstGeom prst="roundRect">
            <a:avLst>
              <a:gd name="adj" fmla="val 5172"/>
            </a:avLst>
          </a:prstGeom>
          <a:solidFill>
            <a:srgbClr val="1B1B1B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793492" y="2075688"/>
            <a:ext cx="493776" cy="493776"/>
          </a:xfrm>
          <a:prstGeom prst="ellipse">
            <a:avLst/>
          </a:prstGeom>
          <a:solidFill>
            <a:srgbClr val="FFC627"/>
          </a:solidFill>
          <a:ln/>
        </p:spPr>
      </p:sp>
      <p:pic>
        <p:nvPicPr>
          <p:cNvPr id="12" name="Image 1" descr="/Users/mahadev/Downloads/ProofSnap-main/pitch/icons_yb/magnify_bl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7060" y="2189256"/>
            <a:ext cx="266639" cy="266639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354580" y="269748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C6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LANE B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2354580" y="2935224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Residual</a:t>
            </a:r>
            <a:endParaRPr lang="en-US" sz="1250" dirty="0"/>
          </a:p>
        </p:txBody>
      </p:sp>
      <p:sp>
        <p:nvSpPr>
          <p:cNvPr id="15" name="Text 11"/>
          <p:cNvSpPr txBox="1"/>
          <p:nvPr/>
        </p:nvSpPr>
        <p:spPr>
          <a:xfrm>
            <a:off x="2372868" y="3447288"/>
            <a:ext cx="13350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cameras leave tiny noise. AI images are too clean.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3941064" y="1874520"/>
            <a:ext cx="1591056" cy="2606040"/>
          </a:xfrm>
          <a:prstGeom prst="roundRect">
            <a:avLst>
              <a:gd name="adj" fmla="val 5172"/>
            </a:avLst>
          </a:prstGeom>
          <a:solidFill>
            <a:srgbClr val="1B1B1B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489704" y="2075688"/>
            <a:ext cx="493776" cy="493776"/>
          </a:xfrm>
          <a:prstGeom prst="ellipse">
            <a:avLst/>
          </a:prstGeom>
          <a:solidFill>
            <a:srgbClr val="FFC627"/>
          </a:solidFill>
          <a:ln/>
        </p:spPr>
      </p:sp>
      <p:pic>
        <p:nvPicPr>
          <p:cNvPr id="18" name="Image 2" descr="/Users/mahadev/Downloads/ProofSnap-main/pitch/icons_yb/code_bl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3272" y="2189256"/>
            <a:ext cx="266639" cy="266639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4050792" y="269748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C6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LANE C</a:t>
            </a:r>
            <a:endParaRPr lang="en-US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4050792" y="2935224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/ ELA</a:t>
            </a:r>
            <a:endParaRPr lang="en-US" sz="1250" dirty="0"/>
          </a:p>
        </p:txBody>
      </p:sp>
      <p:sp>
        <p:nvSpPr>
          <p:cNvPr id="21" name="Text 16"/>
          <p:cNvSpPr txBox="1"/>
          <p:nvPr/>
        </p:nvSpPr>
        <p:spPr>
          <a:xfrm>
            <a:off x="4069080" y="3447288"/>
            <a:ext cx="13350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if part of the photo was edited and re-saved.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5637276" y="1874520"/>
            <a:ext cx="1591056" cy="2606040"/>
          </a:xfrm>
          <a:prstGeom prst="roundRect">
            <a:avLst>
              <a:gd name="adj" fmla="val 5172"/>
            </a:avLst>
          </a:prstGeom>
          <a:solidFill>
            <a:srgbClr val="1B1B1B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185916" y="2075688"/>
            <a:ext cx="493776" cy="493776"/>
          </a:xfrm>
          <a:prstGeom prst="ellipse">
            <a:avLst/>
          </a:prstGeom>
          <a:solidFill>
            <a:srgbClr val="FFC627"/>
          </a:solidFill>
          <a:ln/>
        </p:spPr>
      </p:sp>
      <p:pic>
        <p:nvPicPr>
          <p:cNvPr id="24" name="Image 3" descr="/Users/mahadev/Downloads/ProofSnap-main/pitch/icons_yb/camera_bl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9484" y="2189256"/>
            <a:ext cx="266639" cy="266639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747004" y="269748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C6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LANE D</a:t>
            </a:r>
            <a:endParaRPr lang="en-US" sz="1000" dirty="0"/>
          </a:p>
        </p:txBody>
      </p:sp>
      <p:sp>
        <p:nvSpPr>
          <p:cNvPr id="26" name="Text 20"/>
          <p:cNvSpPr txBox="1"/>
          <p:nvPr/>
        </p:nvSpPr>
        <p:spPr>
          <a:xfrm>
            <a:off x="5747004" y="2935224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Attestation</a:t>
            </a:r>
            <a:endParaRPr lang="en-US" sz="1250" dirty="0"/>
          </a:p>
        </p:txBody>
      </p:sp>
      <p:sp>
        <p:nvSpPr>
          <p:cNvPr id="27" name="Text 21"/>
          <p:cNvSpPr txBox="1"/>
          <p:nvPr/>
        </p:nvSpPr>
        <p:spPr>
          <a:xfrm>
            <a:off x="5765292" y="3447288"/>
            <a:ext cx="13350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Proves the selfie was really taken live, right now.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7333488" y="1874520"/>
            <a:ext cx="1591056" cy="2606040"/>
          </a:xfrm>
          <a:prstGeom prst="roundRect">
            <a:avLst>
              <a:gd name="adj" fmla="val 5172"/>
            </a:avLst>
          </a:prstGeom>
          <a:solidFill>
            <a:srgbClr val="1B1B1B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7882128" y="2075688"/>
            <a:ext cx="493776" cy="493776"/>
          </a:xfrm>
          <a:prstGeom prst="ellipse">
            <a:avLst/>
          </a:prstGeom>
          <a:solidFill>
            <a:srgbClr val="FFC627"/>
          </a:solidFill>
          <a:ln/>
        </p:spPr>
      </p:sp>
      <p:pic>
        <p:nvPicPr>
          <p:cNvPr id="30" name="Image 4" descr="/Users/mahadev/Downloads/ProofSnap-main/pitch/icons_yb/usershield_bl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95696" y="2189256"/>
            <a:ext cx="266639" cy="266639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7443216" y="269748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C6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LANE E</a:t>
            </a:r>
            <a:endParaRPr lang="en-US" sz="1000" dirty="0"/>
          </a:p>
        </p:txBody>
      </p:sp>
      <p:sp>
        <p:nvSpPr>
          <p:cNvPr id="32" name="Text 25"/>
          <p:cNvSpPr txBox="1"/>
          <p:nvPr/>
        </p:nvSpPr>
        <p:spPr>
          <a:xfrm>
            <a:off x="7443216" y="2935224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Match</a:t>
            </a:r>
            <a:endParaRPr lang="en-US" sz="1250" dirty="0"/>
          </a:p>
        </p:txBody>
      </p:sp>
      <p:sp>
        <p:nvSpPr>
          <p:cNvPr id="33" name="Text 26"/>
          <p:cNvSpPr txBox="1"/>
          <p:nvPr/>
        </p:nvSpPr>
        <p:spPr>
          <a:xfrm>
            <a:off x="7461504" y="3447288"/>
            <a:ext cx="13350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the selfie is the same person as the ID photo.</a:t>
            </a:r>
            <a:endParaRPr lang="en-US" sz="900" dirty="0"/>
          </a:p>
        </p:txBody>
      </p:sp>
      <p:sp>
        <p:nvSpPr>
          <p:cNvPr id="34" name="Shape 27"/>
          <p:cNvSpPr/>
          <p:nvPr/>
        </p:nvSpPr>
        <p:spPr>
          <a:xfrm>
            <a:off x="9029700" y="1874520"/>
            <a:ext cx="1591056" cy="2606040"/>
          </a:xfrm>
          <a:prstGeom prst="roundRect">
            <a:avLst>
              <a:gd name="adj" fmla="val 5172"/>
            </a:avLst>
          </a:prstGeom>
          <a:solidFill>
            <a:srgbClr val="1B1B1B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9578340" y="2075688"/>
            <a:ext cx="493776" cy="493776"/>
          </a:xfrm>
          <a:prstGeom prst="ellipse">
            <a:avLst/>
          </a:prstGeom>
          <a:solidFill>
            <a:srgbClr val="FFC627"/>
          </a:solidFill>
          <a:ln/>
        </p:spPr>
      </p:sp>
      <p:pic>
        <p:nvPicPr>
          <p:cNvPr id="36" name="Image 5" descr="/Users/mahadev/Downloads/ProofSnap-main/pitch/icons_yb/mobile_bl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91908" y="2189256"/>
            <a:ext cx="266639" cy="266639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9139428" y="269748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C6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LANE G</a:t>
            </a:r>
            <a:endParaRPr lang="en-US" sz="1000" dirty="0"/>
          </a:p>
        </p:txBody>
      </p:sp>
      <p:sp>
        <p:nvSpPr>
          <p:cNvPr id="38" name="Text 30"/>
          <p:cNvSpPr txBox="1"/>
          <p:nvPr/>
        </p:nvSpPr>
        <p:spPr>
          <a:xfrm>
            <a:off x="9139428" y="2935224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 Detection</a:t>
            </a:r>
            <a:endParaRPr lang="en-US" sz="1250" dirty="0"/>
          </a:p>
        </p:txBody>
      </p:sp>
      <p:sp>
        <p:nvSpPr>
          <p:cNvPr id="39" name="Text 31"/>
          <p:cNvSpPr txBox="1"/>
          <p:nvPr/>
        </p:nvSpPr>
        <p:spPr>
          <a:xfrm>
            <a:off x="9157716" y="3447288"/>
            <a:ext cx="13350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someone holding up a screen or printout instead of a real face.</a:t>
            </a:r>
            <a:endParaRPr lang="en-US" sz="900" dirty="0"/>
          </a:p>
        </p:txBody>
      </p:sp>
      <p:sp>
        <p:nvSpPr>
          <p:cNvPr id="40" name="Text 32"/>
          <p:cNvSpPr txBox="1"/>
          <p:nvPr/>
        </p:nvSpPr>
        <p:spPr>
          <a:xfrm>
            <a:off x="0" y="4535424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C6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600" dirty="0"/>
          </a:p>
        </p:txBody>
      </p:sp>
      <p:sp>
        <p:nvSpPr>
          <p:cNvPr id="41" name="Shape 33"/>
          <p:cNvSpPr/>
          <p:nvPr/>
        </p:nvSpPr>
        <p:spPr>
          <a:xfrm>
            <a:off x="548640" y="4846320"/>
            <a:ext cx="10177272" cy="777240"/>
          </a:xfrm>
          <a:prstGeom prst="roundRect">
            <a:avLst>
              <a:gd name="adj" fmla="val 11765"/>
            </a:avLst>
          </a:prstGeom>
          <a:solidFill>
            <a:srgbClr val="FFC627"/>
          </a:solidFill>
          <a:ln/>
        </p:spPr>
      </p:sp>
      <p:sp>
        <p:nvSpPr>
          <p:cNvPr id="42" name="Shape 34"/>
          <p:cNvSpPr/>
          <p:nvPr/>
        </p:nvSpPr>
        <p:spPr>
          <a:xfrm>
            <a:off x="777240" y="5006340"/>
            <a:ext cx="457200" cy="457200"/>
          </a:xfrm>
          <a:prstGeom prst="ellipse">
            <a:avLst/>
          </a:prstGeom>
          <a:solidFill>
            <a:srgbClr val="242424"/>
          </a:solidFill>
          <a:ln w="12700">
            <a:solidFill>
              <a:srgbClr val="C99A0E"/>
            </a:solidFill>
            <a:prstDash val="solid"/>
          </a:ln>
        </p:spPr>
      </p:sp>
      <p:pic>
        <p:nvPicPr>
          <p:cNvPr id="43" name="Image 6" descr="/Users/mahadev/Downloads/ProofSnap-main/pitch/icons_yb/scale_wh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0110" y="5109210"/>
            <a:ext cx="251460" cy="251460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1417320" y="49560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Judge Decides</a:t>
            </a:r>
            <a:endParaRPr lang="en-US" sz="1300" dirty="0"/>
          </a:p>
        </p:txBody>
      </p:sp>
      <p:sp>
        <p:nvSpPr>
          <p:cNvPr id="45" name="Text 36"/>
          <p:cNvSpPr txBox="1"/>
          <p:nvPr/>
        </p:nvSpPr>
        <p:spPr>
          <a:xfrm>
            <a:off x="1417320" y="5230368"/>
            <a:ext cx="9052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Weighs all six checks together — and says exactly which ones agreed or disagreed, and why.</a:t>
            </a:r>
            <a:endParaRPr lang="en-US" sz="1100" dirty="0"/>
          </a:p>
        </p:txBody>
      </p:sp>
      <p:sp>
        <p:nvSpPr>
          <p:cNvPr id="46" name="Text 37"/>
          <p:cNvSpPr txBox="1"/>
          <p:nvPr/>
        </p:nvSpPr>
        <p:spPr>
          <a:xfrm>
            <a:off x="11183112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8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6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FLOW &amp; HOW WE TEST IT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86384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user sees. How we prove it works.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1847088" cy="1965960"/>
          </a:xfrm>
          <a:prstGeom prst="roundRect">
            <a:avLst>
              <a:gd name="adj" fmla="val 4455"/>
            </a:avLst>
          </a:prstGeom>
          <a:solidFill>
            <a:srgbClr val="1B1B1B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9659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243584" y="2286000"/>
            <a:ext cx="457200" cy="457200"/>
          </a:xfrm>
          <a:prstGeom prst="ellipse">
            <a:avLst/>
          </a:prstGeom>
          <a:solidFill>
            <a:srgbClr val="FFC627"/>
          </a:solidFill>
          <a:ln/>
        </p:spPr>
      </p:sp>
      <p:pic>
        <p:nvPicPr>
          <p:cNvPr id="7" name="Image 0" descr="/Users/mahadev/Downloads/ProofSnap-main/pitch/icons_yb/idcard_bl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8740" y="2391156"/>
            <a:ext cx="246888" cy="24688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2862072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ID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3246120"/>
            <a:ext cx="1627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of the ID card.</a:t>
            </a:r>
            <a:endParaRPr lang="en-US" sz="880" dirty="0"/>
          </a:p>
        </p:txBody>
      </p:sp>
      <p:sp>
        <p:nvSpPr>
          <p:cNvPr id="10" name="Text 7"/>
          <p:cNvSpPr txBox="1"/>
          <p:nvPr/>
        </p:nvSpPr>
        <p:spPr>
          <a:xfrm>
            <a:off x="2400300" y="2628900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9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2519172" y="1874520"/>
            <a:ext cx="1847088" cy="1965960"/>
          </a:xfrm>
          <a:prstGeom prst="roundRect">
            <a:avLst>
              <a:gd name="adj" fmla="val 4455"/>
            </a:avLst>
          </a:prstGeom>
          <a:solidFill>
            <a:srgbClr val="1B1B1B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628900" y="19659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3214116" y="2286000"/>
            <a:ext cx="457200" cy="457200"/>
          </a:xfrm>
          <a:prstGeom prst="ellipse">
            <a:avLst/>
          </a:prstGeom>
          <a:solidFill>
            <a:srgbClr val="FFC627"/>
          </a:solidFill>
          <a:ln/>
        </p:spPr>
      </p:sp>
      <p:pic>
        <p:nvPicPr>
          <p:cNvPr id="14" name="Image 1" descr="/Users/mahadev/Downloads/ProofSnap-main/pitch/icons_yb/camera_bl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9272" y="2391156"/>
            <a:ext cx="246888" cy="24688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610612" y="2862072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Selfie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2628900" y="3246120"/>
            <a:ext cx="1627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only — no gallery uploads.</a:t>
            </a:r>
            <a:endParaRPr lang="en-US" sz="880" dirty="0"/>
          </a:p>
        </p:txBody>
      </p:sp>
      <p:sp>
        <p:nvSpPr>
          <p:cNvPr id="17" name="Text 13"/>
          <p:cNvSpPr txBox="1"/>
          <p:nvPr/>
        </p:nvSpPr>
        <p:spPr>
          <a:xfrm>
            <a:off x="4370832" y="2628900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9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18" name="Shape 14"/>
          <p:cNvSpPr/>
          <p:nvPr/>
        </p:nvSpPr>
        <p:spPr>
          <a:xfrm>
            <a:off x="4489704" y="1874520"/>
            <a:ext cx="1847088" cy="1965960"/>
          </a:xfrm>
          <a:prstGeom prst="roundRect">
            <a:avLst>
              <a:gd name="adj" fmla="val 4455"/>
            </a:avLst>
          </a:prstGeom>
          <a:solidFill>
            <a:srgbClr val="1B1B1B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599432" y="19659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5184648" y="2286000"/>
            <a:ext cx="457200" cy="457200"/>
          </a:xfrm>
          <a:prstGeom prst="ellipse">
            <a:avLst/>
          </a:prstGeom>
          <a:solidFill>
            <a:srgbClr val="FFC627"/>
          </a:solidFill>
          <a:ln/>
        </p:spPr>
      </p:sp>
      <p:pic>
        <p:nvPicPr>
          <p:cNvPr id="21" name="Image 2" descr="/Users/mahadev/Downloads/ProofSnap-main/pitch/icons_yb/layers_bl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9804" y="2391156"/>
            <a:ext cx="246888" cy="246888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4581144" y="2862072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Run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4599432" y="3246120"/>
            <a:ext cx="1627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six checks run together.</a:t>
            </a:r>
            <a:endParaRPr lang="en-US" sz="880" dirty="0"/>
          </a:p>
        </p:txBody>
      </p:sp>
      <p:sp>
        <p:nvSpPr>
          <p:cNvPr id="24" name="Text 19"/>
          <p:cNvSpPr txBox="1"/>
          <p:nvPr/>
        </p:nvSpPr>
        <p:spPr>
          <a:xfrm>
            <a:off x="6341364" y="2628900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9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25" name="Shape 20"/>
          <p:cNvSpPr/>
          <p:nvPr/>
        </p:nvSpPr>
        <p:spPr>
          <a:xfrm>
            <a:off x="6460236" y="1874520"/>
            <a:ext cx="1847088" cy="1965960"/>
          </a:xfrm>
          <a:prstGeom prst="roundRect">
            <a:avLst>
              <a:gd name="adj" fmla="val 4455"/>
            </a:avLst>
          </a:prstGeom>
          <a:solidFill>
            <a:srgbClr val="1B1B1B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569964" y="19659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Shape 22"/>
          <p:cNvSpPr/>
          <p:nvPr/>
        </p:nvSpPr>
        <p:spPr>
          <a:xfrm>
            <a:off x="7155180" y="2286000"/>
            <a:ext cx="457200" cy="457200"/>
          </a:xfrm>
          <a:prstGeom prst="ellipse">
            <a:avLst/>
          </a:prstGeom>
          <a:solidFill>
            <a:srgbClr val="FFC627"/>
          </a:solidFill>
          <a:ln/>
        </p:spPr>
      </p:sp>
      <p:pic>
        <p:nvPicPr>
          <p:cNvPr id="28" name="Image 3" descr="/Users/mahadev/Downloads/ProofSnap-main/pitch/icons_yb/gavel_bl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0336" y="2391156"/>
            <a:ext cx="246888" cy="24688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6551676" y="2862072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Result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6569964" y="3246120"/>
            <a:ext cx="1627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Accept, reject, or human review.</a:t>
            </a:r>
            <a:endParaRPr lang="en-US" sz="880" dirty="0"/>
          </a:p>
        </p:txBody>
      </p:sp>
      <p:sp>
        <p:nvSpPr>
          <p:cNvPr id="31" name="Text 25"/>
          <p:cNvSpPr txBox="1"/>
          <p:nvPr/>
        </p:nvSpPr>
        <p:spPr>
          <a:xfrm>
            <a:off x="8311896" y="2628900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9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32" name="Shape 26"/>
          <p:cNvSpPr/>
          <p:nvPr/>
        </p:nvSpPr>
        <p:spPr>
          <a:xfrm>
            <a:off x="8430768" y="1874520"/>
            <a:ext cx="1847088" cy="1965960"/>
          </a:xfrm>
          <a:prstGeom prst="roundRect">
            <a:avLst>
              <a:gd name="adj" fmla="val 4455"/>
            </a:avLst>
          </a:prstGeom>
          <a:solidFill>
            <a:srgbClr val="1B1B1B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8540496" y="19659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34" name="Shape 28"/>
          <p:cNvSpPr/>
          <p:nvPr/>
        </p:nvSpPr>
        <p:spPr>
          <a:xfrm>
            <a:off x="9125712" y="2286000"/>
            <a:ext cx="457200" cy="457200"/>
          </a:xfrm>
          <a:prstGeom prst="ellipse">
            <a:avLst/>
          </a:prstGeom>
          <a:solidFill>
            <a:srgbClr val="FFC627"/>
          </a:solidFill>
          <a:ln/>
        </p:spPr>
      </p:sp>
      <p:pic>
        <p:nvPicPr>
          <p:cNvPr id="35" name="Image 4" descr="/Users/mahadev/Downloads/ProofSnap-main/pitch/icons_yb/link_bl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0868" y="2391156"/>
            <a:ext cx="246888" cy="246888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8522208" y="2862072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On-Chain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8540496" y="3246120"/>
            <a:ext cx="1627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and anchored — auditable.</a:t>
            </a:r>
            <a:endParaRPr lang="en-US" sz="880" dirty="0"/>
          </a:p>
        </p:txBody>
      </p:sp>
      <p:sp>
        <p:nvSpPr>
          <p:cNvPr id="38" name="Shape 31"/>
          <p:cNvSpPr/>
          <p:nvPr/>
        </p:nvSpPr>
        <p:spPr>
          <a:xfrm>
            <a:off x="548640" y="4160520"/>
            <a:ext cx="10177272" cy="1234440"/>
          </a:xfrm>
          <a:prstGeom prst="roundRect">
            <a:avLst>
              <a:gd name="adj" fmla="val 7407"/>
            </a:avLst>
          </a:prstGeom>
          <a:solidFill>
            <a:srgbClr val="242424"/>
          </a:solidFill>
          <a:ln w="15875">
            <a:solidFill>
              <a:srgbClr val="FFC627"/>
            </a:solidFill>
            <a:prstDash val="solid"/>
          </a:ln>
        </p:spPr>
      </p:sp>
      <p:sp>
        <p:nvSpPr>
          <p:cNvPr id="39" name="Shape 32"/>
          <p:cNvSpPr/>
          <p:nvPr/>
        </p:nvSpPr>
        <p:spPr>
          <a:xfrm>
            <a:off x="777240" y="4343400"/>
            <a:ext cx="502920" cy="502920"/>
          </a:xfrm>
          <a:prstGeom prst="ellipse">
            <a:avLst/>
          </a:prstGeom>
          <a:solidFill>
            <a:srgbClr val="FFC627"/>
          </a:solidFill>
          <a:ln/>
        </p:spPr>
      </p:sp>
      <p:pic>
        <p:nvPicPr>
          <p:cNvPr id="40" name="Image 5" descr="/Users/mahadev/Downloads/ProofSnap-main/pitch/icons_yb/listcheck_bl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0397" y="4456557"/>
            <a:ext cx="276606" cy="276606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1463040" y="4306824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Kit — don't just take our word for it</a:t>
            </a:r>
            <a:endParaRPr lang="en-US" sz="1450" dirty="0"/>
          </a:p>
        </p:txBody>
      </p:sp>
      <p:sp>
        <p:nvSpPr>
          <p:cNvPr id="42" name="Text 34"/>
          <p:cNvSpPr txBox="1"/>
          <p:nvPr/>
        </p:nvSpPr>
        <p:spPr>
          <a:xfrm>
            <a:off x="1463040" y="4663440"/>
            <a:ext cx="9052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photo runs through our system AND a popular commercial detector, side by side, in one screen — so the comparison is live, not a claim on a slide.</a:t>
            </a:r>
            <a:endParaRPr lang="en-US" sz="1150" dirty="0"/>
          </a:p>
        </p:txBody>
      </p:sp>
      <p:sp>
        <p:nvSpPr>
          <p:cNvPr id="43" name="Text 35"/>
          <p:cNvSpPr txBox="1"/>
          <p:nvPr/>
        </p:nvSpPr>
        <p:spPr>
          <a:xfrm>
            <a:off x="11183112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8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6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LANE A — OUR TRAINED MODEL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86384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 check we trained ourselves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02920" cy="502920"/>
          </a:xfrm>
          <a:prstGeom prst="ellipse">
            <a:avLst/>
          </a:prstGeom>
          <a:solidFill>
            <a:srgbClr val="FFC627"/>
          </a:solidFill>
          <a:ln/>
        </p:spPr>
      </p:sp>
      <p:pic>
        <p:nvPicPr>
          <p:cNvPr id="5" name="Image 0" descr="/Users/mahadev/Downloads/ProofSnap-main/pitch/icons_yb/robot_bl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9282" y="207660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1993392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Model: EfficientNet-B0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234440" y="233172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small, fast image classifier — light enough to run on a normal server, no GPU required.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971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C6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3337560"/>
            <a:ext cx="420624" cy="420624"/>
          </a:xfrm>
          <a:prstGeom prst="ellipse">
            <a:avLst/>
          </a:prstGeom>
          <a:solidFill>
            <a:srgbClr val="242424"/>
          </a:solidFill>
          <a:ln w="12700">
            <a:solidFill>
              <a:srgbClr val="C99A0E"/>
            </a:solidFill>
            <a:prstDash val="solid"/>
          </a:ln>
        </p:spPr>
      </p:sp>
      <p:pic>
        <p:nvPicPr>
          <p:cNvPr id="10" name="Image 1" descr="/Users/mahadev/Downloads/ProofSnap-main/pitch/icons_yb/cube_w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280" y="3432200"/>
            <a:ext cx="231343" cy="23134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43000" y="3319272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INP-X (Inpainting-Exchange)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1143000" y="36118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photos with an AI-edited face pasted in — teaches the model to spot a local edit.</a:t>
            </a:r>
            <a:endParaRPr lang="en-US" sz="1080" dirty="0"/>
          </a:p>
        </p:txBody>
      </p:sp>
      <p:sp>
        <p:nvSpPr>
          <p:cNvPr id="13" name="Shape 9"/>
          <p:cNvSpPr/>
          <p:nvPr/>
        </p:nvSpPr>
        <p:spPr>
          <a:xfrm>
            <a:off x="548640" y="4114800"/>
            <a:ext cx="420624" cy="420624"/>
          </a:xfrm>
          <a:prstGeom prst="ellipse">
            <a:avLst/>
          </a:prstGeom>
          <a:solidFill>
            <a:srgbClr val="242424"/>
          </a:solidFill>
          <a:ln w="12700">
            <a:solidFill>
              <a:srgbClr val="C99A0E"/>
            </a:solidFill>
            <a:prstDash val="solid"/>
          </a:ln>
        </p:spPr>
      </p:sp>
      <p:pic>
        <p:nvPicPr>
          <p:cNvPr id="14" name="Image 2" descr="/Users/mahadev/Downloads/ProofSnap-main/pitch/icons_yb/usershield_w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280" y="4209440"/>
            <a:ext cx="231343" cy="231343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43000" y="4096512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140k Real-and-Fake Faces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1143000" y="438912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70,000 real photos vs. 70,000 StyleGAN-generated faces — teaches whole-image AI generation.</a:t>
            </a:r>
            <a:endParaRPr lang="en-US" sz="1080" dirty="0"/>
          </a:p>
        </p:txBody>
      </p:sp>
      <p:sp>
        <p:nvSpPr>
          <p:cNvPr id="17" name="Shape 12"/>
          <p:cNvSpPr/>
          <p:nvPr/>
        </p:nvSpPr>
        <p:spPr>
          <a:xfrm>
            <a:off x="548640" y="4892040"/>
            <a:ext cx="420624" cy="420624"/>
          </a:xfrm>
          <a:prstGeom prst="ellipse">
            <a:avLst/>
          </a:prstGeom>
          <a:solidFill>
            <a:srgbClr val="242424"/>
          </a:solidFill>
          <a:ln w="12700">
            <a:solidFill>
              <a:srgbClr val="C99A0E"/>
            </a:solidFill>
            <a:prstDash val="solid"/>
          </a:ln>
        </p:spPr>
      </p:sp>
      <p:pic>
        <p:nvPicPr>
          <p:cNvPr id="18" name="Image 3" descr="/Users/mahadev/Downloads/ProofSnap-main/pitch/icons_yb/route_wh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280" y="4986680"/>
            <a:ext cx="231343" cy="231343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43000" y="4873752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photo mix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1143000" y="516636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CityScapes, OpenImages, SUN RGB-D — everyday photos, not just posed studio headshots.</a:t>
            </a:r>
            <a:endParaRPr lang="en-US" sz="1080" dirty="0"/>
          </a:p>
        </p:txBody>
      </p:sp>
      <p:sp>
        <p:nvSpPr>
          <p:cNvPr id="21" name="Shape 15"/>
          <p:cNvSpPr/>
          <p:nvPr/>
        </p:nvSpPr>
        <p:spPr>
          <a:xfrm>
            <a:off x="548640" y="5806440"/>
            <a:ext cx="10177272" cy="685800"/>
          </a:xfrm>
          <a:prstGeom prst="roundRect">
            <a:avLst>
              <a:gd name="adj" fmla="val 13333"/>
            </a:avLst>
          </a:prstGeom>
          <a:solidFill>
            <a:srgbClr val="1B1B1B"/>
          </a:solidFill>
          <a:ln w="12700">
            <a:solidFill>
              <a:srgbClr val="C99A0E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822960" y="58064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FFC6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learning: being retrained on more real-world photos to reduce mistakes — its confidence is deliberately capped until that's done.</a:t>
            </a:r>
            <a:endParaRPr lang="en-US" sz="1150" dirty="0"/>
          </a:p>
        </p:txBody>
      </p:sp>
      <p:sp>
        <p:nvSpPr>
          <p:cNvPr id="23" name="Text 17"/>
          <p:cNvSpPr txBox="1"/>
          <p:nvPr/>
        </p:nvSpPr>
        <p:spPr>
          <a:xfrm>
            <a:off x="11183112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6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RESEARCH BEHIND IT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86384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test this way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0177272" cy="3566160"/>
          </a:xfrm>
          <a:prstGeom prst="roundRect">
            <a:avLst>
              <a:gd name="adj" fmla="val 2564"/>
            </a:avLst>
          </a:prstGeom>
          <a:solidFill>
            <a:srgbClr val="1B1B1B"/>
          </a:solidFill>
          <a:ln w="15875">
            <a:solidFill>
              <a:srgbClr val="C99A0E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548640" y="3474720"/>
            <a:ext cx="10177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paste paper figure / screenshot here ]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623560"/>
            <a:ext cx="10177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 2602.00192 — most AI-photo detectors get fooled once an edit is pasted into a real photo, not the AI content itself. That's the exact trick we built and test our checks against.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1183112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6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86384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it in action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0177272" cy="4023360"/>
          </a:xfrm>
          <a:prstGeom prst="roundRect">
            <a:avLst>
              <a:gd name="adj" fmla="val 2273"/>
            </a:avLst>
          </a:prstGeom>
          <a:solidFill>
            <a:srgbClr val="1B1B1B"/>
          </a:solidFill>
          <a:ln w="15875">
            <a:solidFill>
              <a:srgbClr val="C99A0E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548640" y="3703320"/>
            <a:ext cx="10177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paste demo screenshots / photos here ]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080760"/>
            <a:ext cx="10177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captures, real verdicts — from testing this build, not a mockup.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183112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2026-09-06T06:45:32Z</dcterms:created>
  <dcterms:modified xsi:type="dcterms:W3CDTF">2026-09-06T06:45:32Z</dcterms:modified>
</cp:coreProperties>
</file>