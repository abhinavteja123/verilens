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02920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4" name="Shape 2"/>
          <p:cNvSpPr/>
          <p:nvPr/>
        </p:nvSpPr>
        <p:spPr>
          <a:xfrm>
            <a:off x="11301984" y="502920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5" name="Shape 3"/>
          <p:cNvSpPr/>
          <p:nvPr/>
        </p:nvSpPr>
        <p:spPr>
          <a:xfrm>
            <a:off x="11658600" y="502920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6327648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5971032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8" name="Shape 6"/>
          <p:cNvSpPr/>
          <p:nvPr/>
        </p:nvSpPr>
        <p:spPr>
          <a:xfrm>
            <a:off x="11301984" y="6327648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0" y="5971032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10" name="Shape 8"/>
          <p:cNvSpPr/>
          <p:nvPr/>
        </p:nvSpPr>
        <p:spPr>
          <a:xfrm>
            <a:off x="5682996" y="1143000"/>
            <a:ext cx="822960" cy="82296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1" name="Image 0" descr="/Users/mahadev/Downloads/ProofSnap-main/pitch/icons_yb/shield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047" y="1324051"/>
            <a:ext cx="460858" cy="46085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0" y="2212848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VERILENS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0" y="3273552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/ AI-Generated Image Detector for KYC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162556" y="395020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forensic evidence system for identity checks — per-lane reasoning,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“I don’t know,” and a tamper-proof audit trail.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31436" y="5029200"/>
            <a:ext cx="2926080" cy="11887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0" y="52120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Deepfake / AI-Generated Image Detector for KYC  ·  Cybersecurity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0" y="62179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Gen-AI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photo used to prove you were real.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anymore.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fraud today is driven by deepfakes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7744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03776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2,665%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03776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fake-camera attacks than just last year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46848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02880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$20/mo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802880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anyone a ready-made face-swap 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006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now fake a face on camera, cheaply and convincingly. A KYC check that only asks “does this photo look real?” is asking the wrong question — VeriLens is built to answer the right one: can this applicant be trusted?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check. Five simple steps.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177272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6" name="Image 0" descr="/Users/mahadev/Downloads/ProofSnap-main/pitch/icons_yb/layercapture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2154326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9842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1965960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 of your ID, then a live selfie.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94944" y="2848356"/>
            <a:ext cx="10030968" cy="841248"/>
          </a:xfrm>
          <a:prstGeom prst="roundRect">
            <a:avLst>
              <a:gd name="adj" fmla="val 8696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" y="3012948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1" name="Image 1" descr="/Users/mahadev/Downloads/ProofSnap-main/pitch/icons_yb/layergate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" y="31281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17904" y="295808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Quality Check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986784" y="2939796"/>
            <a:ext cx="65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or broken photos are stopped right away — before any test runs.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841248" y="3822192"/>
            <a:ext cx="9884664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5875">
            <a:solidFill>
              <a:srgbClr val="C99A0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3986784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6" name="Image 2" descr="/Users/mahadev/Downloads/ProofSnap-main/pitch/icons_yb/layerlanes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054" y="4101998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64208" y="3931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Six Checks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133088" y="3913632"/>
            <a:ext cx="6364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different tests look for signs of fakery, all at the same time.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987552" y="4796028"/>
            <a:ext cx="9738360" cy="841248"/>
          </a:xfrm>
          <a:prstGeom prst="roundRect">
            <a:avLst>
              <a:gd name="adj" fmla="val 8696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52144" y="4960620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1" name="Image 3" descr="/Users/mahadev/Downloads/ProofSnap-main/pitch/icons_yb/layerjudge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7358" y="5075834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10512" y="490575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Judge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279392" y="4887468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tests agree, we decide. If they disagree, a person reviews it instead of guessing.</a:t>
            </a:r>
            <a:endParaRPr lang="en-US" sz="1130" dirty="0"/>
          </a:p>
        </p:txBody>
      </p:sp>
      <p:sp>
        <p:nvSpPr>
          <p:cNvPr id="24" name="Shape 18"/>
          <p:cNvSpPr/>
          <p:nvPr/>
        </p:nvSpPr>
        <p:spPr>
          <a:xfrm>
            <a:off x="1133856" y="5769864"/>
            <a:ext cx="9592056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298448" y="5934456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6" name="Image 4" descr="/Users/mahadev/Downloads/ProofSnap-main/pitch/icons_yb/layerchain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662" y="6049670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956816" y="58795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Verdict + Record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25696" y="5861304"/>
            <a:ext cx="6071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signed and saved on the blockchain — nobody can quietly change it later.</a:t>
            </a:r>
            <a:endParaRPr lang="en-US" sz="1130" dirty="0"/>
          </a:p>
        </p:txBody>
      </p:sp>
      <p:sp>
        <p:nvSpPr>
          <p:cNvPr id="29" name="Text 2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CHECKS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checks. Each looks for a different kind of fake.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6" name="Image 0" descr="/Users/mahadev/Downloads/ProofSnap-main/pitch/icons_yb/layers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548" y="2189256"/>
            <a:ext cx="266639" cy="2666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Synthesis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for AI-edited or pasted parts. Shown as evidence — it no longer votes.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16252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450592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2" name="Image 1" descr="/Users/mahadev/Downloads/ProofSnap-main/pitch/icons_yb/magnify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60" y="2189256"/>
            <a:ext cx="266639" cy="2666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980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B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125980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Residual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144268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cameras leave tiny noise. AI images are too clean.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483864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918204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8" name="Image 2" descr="/Users/mahadev/Downloads/ProofSnap-main/pitch/icons_yb/code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772" y="2189256"/>
            <a:ext cx="266639" cy="2666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93592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C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3593592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/ ELA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3611880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if part of the photo was edited and re-saved.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951476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85816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4" name="Image 3" descr="/Users/mahadev/Downloads/ProofSnap-main/pitch/icons_yb/camera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9384" y="2189256"/>
            <a:ext cx="266639" cy="26663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61204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061204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Attestation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5079492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selfie was really taken live, right now.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419088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853428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0" name="Image 4" descr="/Users/mahadev/Downloads/ProofSnap-main/pitch/icons_yb/usershield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6996" y="2189256"/>
            <a:ext cx="266639" cy="26663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528816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E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6528816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Match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6547104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selfie is the same person as the ID photo.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7886700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321040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6" name="Image 5" descr="/Users/mahadev/Downloads/ProofSnap-main/pitch/icons_yb/mobile_bl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608" y="2189256"/>
            <a:ext cx="266639" cy="26663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996428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G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7996428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Moire Detection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8014716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for the interference pattern a photographed screen leaves behind.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9354312" y="1874520"/>
            <a:ext cx="1362456" cy="2606040"/>
          </a:xfrm>
          <a:prstGeom prst="roundRect">
            <a:avLst>
              <a:gd name="adj" fmla="val 6040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788652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42" name="Image 6" descr="/Users/mahadev/Downloads/ProofSnap-main/pitch/icons_yb/eyeslash_bl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220" y="2189256"/>
            <a:ext cx="266639" cy="266639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464040" y="2697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H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9464040" y="293522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Replay Check</a:t>
            </a:r>
            <a:endParaRPr lang="en-US" sz="1250" dirty="0"/>
          </a:p>
        </p:txBody>
      </p:sp>
      <p:sp>
        <p:nvSpPr>
          <p:cNvPr id="45" name="Text 36"/>
          <p:cNvSpPr txBox="1"/>
          <p:nvPr/>
        </p:nvSpPr>
        <p:spPr>
          <a:xfrm>
            <a:off x="9482328" y="3447288"/>
            <a:ext cx="110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a screen bezel, browser tabs, glare or a cursor in the frame. Our strongest check.</a:t>
            </a:r>
            <a:endParaRPr lang="en-US" sz="900" dirty="0"/>
          </a:p>
        </p:txBody>
      </p:sp>
      <p:sp>
        <p:nvSpPr>
          <p:cNvPr id="46" name="Text 37"/>
          <p:cNvSpPr txBox="1"/>
          <p:nvPr/>
        </p:nvSpPr>
        <p:spPr>
          <a:xfrm>
            <a:off x="0" y="4535424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47" name="Shape 38"/>
          <p:cNvSpPr/>
          <p:nvPr/>
        </p:nvSpPr>
        <p:spPr>
          <a:xfrm>
            <a:off x="548640" y="4846320"/>
            <a:ext cx="10177272" cy="777240"/>
          </a:xfrm>
          <a:prstGeom prst="roundRect">
            <a:avLst>
              <a:gd name="adj" fmla="val 11765"/>
            </a:avLst>
          </a:prstGeom>
          <a:solidFill>
            <a:srgbClr val="FFC627"/>
          </a:solidFill>
          <a:ln/>
        </p:spPr>
      </p:sp>
      <p:sp>
        <p:nvSpPr>
          <p:cNvPr id="48" name="Shape 39"/>
          <p:cNvSpPr/>
          <p:nvPr/>
        </p:nvSpPr>
        <p:spPr>
          <a:xfrm>
            <a:off x="777240" y="5006340"/>
            <a:ext cx="457200" cy="457200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49" name="Image 7" descr="/Users/mahadev/Downloads/ProofSnap-main/pitch/icons_yb/scale_wh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110" y="510921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1417320" y="4956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Judge Decides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1417320" y="5230368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Weighs the voting checks together — and says exactly which ones agreed or disagreed, and why.</a:t>
            </a:r>
            <a:endParaRPr lang="en-US" sz="1100" dirty="0"/>
          </a:p>
        </p:txBody>
      </p:sp>
      <p:sp>
        <p:nvSpPr>
          <p:cNvPr id="52" name="Text 4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&amp; HOW WE TEST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user sees. How we prove it works.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243584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7" name="Image 0" descr="/Users/mahadev/Downloads/ProofSnap-main/pitch/icons_yb/idcard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2391156"/>
            <a:ext cx="246888" cy="2468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the ID card.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2400300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9172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214116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4" name="Image 1" descr="/Users/mahadev/Downloads/ProofSnap-main/pitch/icons_yb/camera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391156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610612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Selfie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28900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only — no gallery uploads.</a:t>
            </a:r>
            <a:endParaRPr lang="en-US" sz="880" dirty="0"/>
          </a:p>
        </p:txBody>
      </p:sp>
      <p:sp>
        <p:nvSpPr>
          <p:cNvPr id="17" name="Text 13"/>
          <p:cNvSpPr txBox="1"/>
          <p:nvPr/>
        </p:nvSpPr>
        <p:spPr>
          <a:xfrm>
            <a:off x="4370832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489704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99432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184648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1" name="Image 2" descr="/Users/mahadev/Downloads/ProofSnap-main/pitch/icons_yb/layers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804" y="2391156"/>
            <a:ext cx="246888" cy="2468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81144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Run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checks run together.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6341364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6460236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69964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7155180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8" name="Image 3" descr="/Users/mahadev/Downloads/ProofSnap-main/pitch/icons_yb/gavel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2391156"/>
            <a:ext cx="246888" cy="24688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551676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Result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569964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reject, or human review.</a:t>
            </a:r>
            <a:endParaRPr lang="en-US" sz="880" dirty="0"/>
          </a:p>
        </p:txBody>
      </p:sp>
      <p:sp>
        <p:nvSpPr>
          <p:cNvPr id="31" name="Text 25"/>
          <p:cNvSpPr txBox="1"/>
          <p:nvPr/>
        </p:nvSpPr>
        <p:spPr>
          <a:xfrm>
            <a:off x="8311896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8430768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540496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9125712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5" name="Image 4" descr="/Users/mahadev/Downloads/ProofSnap-main/pitch/icons_yb/link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0868" y="2391156"/>
            <a:ext cx="246888" cy="246888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8522208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On-Chain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8540496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and anchored — auditable.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48640" y="4160520"/>
            <a:ext cx="10177272" cy="1234440"/>
          </a:xfrm>
          <a:prstGeom prst="roundRect">
            <a:avLst>
              <a:gd name="adj" fmla="val 7407"/>
            </a:avLst>
          </a:prstGeom>
          <a:solidFill>
            <a:srgbClr val="242424"/>
          </a:solidFill>
          <a:ln w="15875">
            <a:solidFill>
              <a:srgbClr val="FFC627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40" name="Image 5" descr="/Users/mahadev/Downloads/ProofSnap-main/pitch/icons_yb/listcheck_bl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" y="4456557"/>
            <a:ext cx="276606" cy="27660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463040" y="430682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Kit — don't just take our word for it</a:t>
            </a:r>
            <a:endParaRPr lang="en-US" sz="1450" dirty="0"/>
          </a:p>
        </p:txBody>
      </p:sp>
      <p:sp>
        <p:nvSpPr>
          <p:cNvPr id="42" name="Text 34"/>
          <p:cNvSpPr txBox="1"/>
          <p:nvPr/>
        </p:nvSpPr>
        <p:spPr>
          <a:xfrm>
            <a:off x="1463040" y="46634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photo runs through our system AND a popular commercial detector, side by side, in one screen — so the comparison is live, not a claim on a slide.</a:t>
            </a:r>
            <a:endParaRPr lang="en-US" sz="1150" dirty="0"/>
          </a:p>
        </p:txBody>
      </p:sp>
      <p:sp>
        <p:nvSpPr>
          <p:cNvPr id="43" name="Text 3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LANE A — OUR TRAINED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check we trained ourselves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5" name="Image 0" descr="/Users/mahadev/Downloads/ProofSnap-main/pitch/icons_yb/robot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20766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99339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EfficientNet-B0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3317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fast image classifier — light enough to run on a normal server, no GPU required.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33756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0" name="Image 1" descr="/Users/mahadev/Downloads/ProofSnap-main/pitch/icons_yb/cube_w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80" y="3432200"/>
            <a:ext cx="231343" cy="231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3319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INP-X (Inpainting-Exchange)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36118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photos with an AI-edited face pasted in — teaches the model to spot a local edit.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548640" y="411480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4" name="Image 2" descr="/Users/mahadev/Downloads/ProofSnap-main/pitch/icons_yb/usershield_w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" y="4209440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43000" y="409651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 Real-and-Fake Faces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" y="43891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 real photos vs. 70,000 StyleGAN-generated faces — teaches whole-image AI generation.</a:t>
            </a:r>
            <a:endParaRPr lang="en-US" sz="1080" dirty="0"/>
          </a:p>
        </p:txBody>
      </p:sp>
      <p:sp>
        <p:nvSpPr>
          <p:cNvPr id="17" name="Shape 12"/>
          <p:cNvSpPr/>
          <p:nvPr/>
        </p:nvSpPr>
        <p:spPr>
          <a:xfrm>
            <a:off x="548640" y="489204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8" name="Image 3" descr="/Users/mahadev/Downloads/ProofSnap-main/pitch/icons_yb/route_w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80" y="4986680"/>
            <a:ext cx="231343" cy="231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487375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photo mix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143000" y="51663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CityScapes, OpenImages, SUN RGB-D — everyday photos, not just posed studio headshots.</a:t>
            </a:r>
            <a:endParaRPr lang="en-US" sz="1080" dirty="0"/>
          </a:p>
        </p:txBody>
      </p:sp>
      <p:sp>
        <p:nvSpPr>
          <p:cNvPr id="21" name="Shape 15"/>
          <p:cNvSpPr/>
          <p:nvPr/>
        </p:nvSpPr>
        <p:spPr>
          <a:xfrm>
            <a:off x="548640" y="5806440"/>
            <a:ext cx="10177272" cy="685800"/>
          </a:xfrm>
          <a:prstGeom prst="roundRect">
            <a:avLst>
              <a:gd name="adj" fmla="val 13333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2960" y="58064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found: on real captures this model scored 0.87 on a genuine ID card and 0.00 on four screen replays — backwards. It now shows as evidence only and casts no vote. We report that rather than hide it.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CLAIMED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tested it against our own real captures — and it was failing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real KYC attempts pulled from our own storage. Four of the six ID photos turned out to be photos of a laptop screen.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29968"/>
            <a:ext cx="2377440" cy="1207008"/>
          </a:xfrm>
          <a:prstGeom prst="roundRect">
            <a:avLst>
              <a:gd name="adj" fmla="val 6818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176272"/>
            <a:ext cx="1865376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30033"/>
            <a:ext cx="1865376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Fakes wrongly ACCEPTED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063240" y="2029968"/>
            <a:ext cx="2377440" cy="1207008"/>
          </a:xfrm>
          <a:prstGeom prst="roundRect">
            <a:avLst>
              <a:gd name="adj" fmla="val 6818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19272" y="2176272"/>
            <a:ext cx="1865376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319272" y="2730033"/>
            <a:ext cx="1865376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replays caught, before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577840" y="2029968"/>
            <a:ext cx="2377440" cy="1207008"/>
          </a:xfrm>
          <a:prstGeom prst="roundRect">
            <a:avLst>
              <a:gd name="adj" fmla="val 6818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33872" y="2176272"/>
            <a:ext cx="1865376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833872" y="2730033"/>
            <a:ext cx="1865376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replays caught, after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2029968"/>
            <a:ext cx="2633472" cy="1207008"/>
          </a:xfrm>
          <a:prstGeom prst="roundRect">
            <a:avLst>
              <a:gd name="adj" fmla="val 6818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8472" y="2176272"/>
            <a:ext cx="2121408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730033"/>
            <a:ext cx="2121408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users wrongly rejected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456432"/>
            <a:ext cx="10177272" cy="384048"/>
          </a:xfrm>
          <a:prstGeom prst="roundRect">
            <a:avLst>
              <a:gd name="adj" fmla="val 14286"/>
            </a:avLst>
          </a:prstGeom>
          <a:solidFill>
            <a:srgbClr val="2424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5112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submitted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989320" y="35112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877056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1B1B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395935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card + genuine selfie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39593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9593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270248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2424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3525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photographed off a screen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43525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3525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1B1B1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474573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photographed off a screen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47457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745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5056632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2424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1389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photos off a screen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989320" y="51389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51389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449824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1B1B1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77240" y="55321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replay + wrong person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989320" y="5532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183880" y="55321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843016"/>
            <a:ext cx="10177272" cy="338328"/>
          </a:xfrm>
          <a:prstGeom prst="roundRect">
            <a:avLst>
              <a:gd name="adj" fmla="val 16216"/>
            </a:avLst>
          </a:prstGeom>
          <a:solidFill>
            <a:srgbClr val="2424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77240" y="5925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 card (no face on it)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89320" y="592531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183880" y="59253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345936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red rows are fakes our own system was accepting. We only found them by testing against real captures instead of trusting the model's own score.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BEHIND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test this 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177272" cy="3566160"/>
          </a:xfrm>
          <a:prstGeom prst="roundRect">
            <a:avLst>
              <a:gd name="adj" fmla="val 2564"/>
            </a:avLst>
          </a:prstGeom>
          <a:solidFill>
            <a:srgbClr val="1B1B1B"/>
          </a:solidFill>
          <a:ln w="15875">
            <a:solidFill>
              <a:srgbClr val="C99A0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347472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paper figure / screenshot here 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0177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2602.00192 — most AI-photo detectors get fooled once an edit is pasted into a real photo, not the AI content itself. That's the exact trick we built and test our checks against.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177272" cy="4023360"/>
          </a:xfrm>
          <a:prstGeom prst="roundRect">
            <a:avLst>
              <a:gd name="adj" fmla="val 2273"/>
            </a:avLst>
          </a:prstGeom>
          <a:solidFill>
            <a:srgbClr val="1B1B1B"/>
          </a:solidFill>
          <a:ln w="15875">
            <a:solidFill>
              <a:srgbClr val="C99A0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370332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demo screenshots / photos here 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captures, real verdicts — from testing this build, not a mockup.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2026-09-06T07:21:45Z</dcterms:created>
  <dcterms:modified xsi:type="dcterms:W3CDTF">2026-09-06T07:21:45Z</dcterms:modified>
</cp:coreProperties>
</file>